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6" r:id="rId19"/>
    <p:sldId id="273" r:id="rId20"/>
    <p:sldId id="274" r:id="rId21"/>
    <p:sldId id="275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45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7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2793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5915"/>
            <a:ext cx="8046720" cy="2963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Factors Best Predict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571750"/>
            <a:ext cx="8046720" cy="1040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Analysis and Prediction Study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36118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Prediction Dataset  ·  100,000 patients  ·  9 features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&amp; Dataset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health factors most influence diabetes risk, and can we predict diabetes using simple classification models?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920240" cy="137160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2953512"/>
            <a:ext cx="192024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2103120"/>
            <a:ext cx="192024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2606040" y="2240280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606040" y="2953512"/>
            <a:ext cx="192024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920240" cy="1371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754880" y="2240280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754880" y="2953512"/>
            <a:ext cx="192024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2103120"/>
            <a:ext cx="1920240" cy="1371600"/>
          </a:xfrm>
          <a:prstGeom prst="rect">
            <a:avLst/>
          </a:prstGeom>
          <a:solidFill>
            <a:srgbClr val="2E7D6F"/>
          </a:solidFill>
          <a:ln w="12700">
            <a:solidFill>
              <a:srgbClr val="2E7D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903720" y="2240280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903720" y="2953512"/>
            <a:ext cx="192024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703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age · gender · hypertension · heart disease · BMI · HbA1c level · blood glucose · smoking history → target: diabetes (0/1)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8366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64008" cy="77724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548640" y="4183380"/>
            <a:ext cx="80924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dataset?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503420"/>
            <a:ext cx="8401974" cy="34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health features with a clear binary target. Has implicit missing data (smoking 'No Info'), class imbalance, and all rubric items map naturally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7C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4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deliberate decisions — not just dropping rows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— What We Did &amp; Why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20624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64008" cy="129844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57200" y="9784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No NaN values found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df.isnull().sum() → all zeros.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clean on the surface ≠ truly clean. Hidden problem in smoking_history.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868680"/>
            <a:ext cx="420624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617720" y="868680"/>
            <a:ext cx="64008" cy="12984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754880" y="9784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'No Info' = implicit missing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325880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35,816 rows (35.8%) had 'No Info' in smoking_history.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real category — it means the data wasn't collected.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replace it with the mode ('never') instead of dropping, because losing 35k rows would hurt the model.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258568"/>
            <a:ext cx="420624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320040" y="2258568"/>
            <a:ext cx="64008" cy="12984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57200" y="236829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Gender = 'Other' removed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715768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18 rows. Statistically meaningless — can't learn a pattern from 18 samples.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without impact on model quality.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2258568"/>
            <a:ext cx="420624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4617720" y="2258568"/>
            <a:ext cx="64008" cy="1298448"/>
          </a:xfrm>
          <a:prstGeom prst="rect">
            <a:avLst/>
          </a:prstGeom>
          <a:solidFill>
            <a:srgbClr val="2E7D6F"/>
          </a:solidFill>
          <a:ln w="12700">
            <a:solidFill>
              <a:srgbClr val="2E7D6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754880" y="236829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BMI outliers kept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715768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rows with BMI &gt; 60.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intentionally — extreme BMI is a real medical condition, not a data entry error. Dropping it would introduce bias.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648456"/>
            <a:ext cx="420624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320040" y="3648456"/>
            <a:ext cx="64008" cy="12984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57200" y="375818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Label Encoding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105656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need numbers, not strings.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converts alphabetically: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current=0, ever=1, former=2, never=3, not current=4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 gender: Female=0, Male=1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3648456"/>
            <a:ext cx="420624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4617720" y="3648456"/>
            <a:ext cx="64008" cy="1298448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4754880" y="375818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Duplicates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4105656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df.duplicated().sum() → 0 duplicates.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clean on this front — no action needed.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7C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/ Test Split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Split &amp; How We Split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760720" cy="64008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70%  (~70,000 rows)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2200" y="960120"/>
            <a:ext cx="1280160" cy="64008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172200" y="9601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15%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0" y="960120"/>
            <a:ext cx="1298448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7498080" y="96012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15%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737360"/>
            <a:ext cx="28346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320040" y="1737360"/>
            <a:ext cx="64008" cy="192024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57200" y="18470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Training 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19456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patterns from this data.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your textbook, study from it.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stats and visualizations are also computed here only.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used to evaluate final performance.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1737360"/>
            <a:ext cx="28346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3246120" y="1737360"/>
            <a:ext cx="64008" cy="192024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383280" y="18470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Validation Set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19456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compare models and tune hyperparameters.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both models here and picked the winner based on F1.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used repeatedly, but not for final reporting.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1737360"/>
            <a:ext cx="28346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6172200" y="1737360"/>
            <a:ext cx="64008" cy="1920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6309360" y="18470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219456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until the very end.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seen during training or model selection.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ONCE to report honest final performance.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767328"/>
            <a:ext cx="8503920" cy="1051560"/>
          </a:xfrm>
          <a:prstGeom prst="rect">
            <a:avLst/>
          </a:prstGeom>
          <a:solidFill>
            <a:srgbClr val="EDF5F5"/>
          </a:solidFill>
          <a:ln w="10160">
            <a:solidFill>
              <a:srgbClr val="0D7C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320040" y="3767328"/>
            <a:ext cx="64008" cy="10515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502920" y="3813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70 / 15 / 15?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1330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gives the model enough data to learn from. 15% val is enough to compare two models reliably. 15% test gives a statistically meaningful final evaluation.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stratify=y ensures the 8.5% diabetic / 91.5% non-diabetic ratio is preserved identically in all three splits.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7C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4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· Median · Std Dev · Skewness — computed manually with NumPy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(Training Set Only)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8503920" cy="23317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this means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Roughly symmetric. Wide age range — patients from teens to 80+.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Nearly symmetric. Mean and median almost identical = no strong skew.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HbA1c 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Left-skewed: most patients below 6.5 (non-diabetic clinical range).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 Glucose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Centered around 140. Diabetics cluster at higher values (200+).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3337560"/>
            <a:ext cx="41605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3"/>
          <p:cNvSpPr/>
          <p:nvPr/>
        </p:nvSpPr>
        <p:spPr>
          <a:xfrm>
            <a:off x="320040" y="3337560"/>
            <a:ext cx="64008" cy="1463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457200" y="344728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Skewness?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7947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= (mean − median) / std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= tail on the right (high outliers pull mean up)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= tail on the left (low outliers pull mean down)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0 = symmetric distribution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NumPy to compute this manually — not just .describe()</a:t>
            </a:r>
            <a:endParaRPr lang="en-US" sz="1100" dirty="0"/>
          </a:p>
        </p:txBody>
      </p:sp>
      <p:sp>
        <p:nvSpPr>
          <p:cNvPr id="4" name="Shape 6"/>
          <p:cNvSpPr/>
          <p:nvPr/>
        </p:nvSpPr>
        <p:spPr>
          <a:xfrm>
            <a:off x="4617720" y="3337560"/>
            <a:ext cx="42062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4617720" y="3337560"/>
            <a:ext cx="64008" cy="1463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4754880" y="34472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Class Imbalance — Critical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54880" y="3794760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91.5% non-diabetic  vs  8.5% diabetic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predicting 'No Diabetes' for everyone = 91.5% accuracy but 0% recall.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we use Precision, Recall, and F1 as our main metrics — not accuracy.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7C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&amp; Storytelling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4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looks like — and what it tells us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Key Features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251917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08582" y="947474"/>
            <a:ext cx="3429000" cy="3856759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5585439" y="947474"/>
            <a:ext cx="95513" cy="385676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680952" y="1082494"/>
            <a:ext cx="3356630" cy="243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each feature's distribution look like?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80952" y="1460900"/>
            <a:ext cx="3200400" cy="5233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roughly uniform — patients span all ages from young adults to 80+.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80952" y="2048256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is symmetric around 27 (overweight range). High BMI is a known diabetes risk factor.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24934" y="2706624"/>
            <a:ext cx="315641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HbA1c is left-skewed — most patients fall below 6.5 (non-diabetic range), confirming the class imbalance.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24934" y="336499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glucose peaks around 140, with a long right tail from diabetic patients.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24934" y="3959352"/>
            <a:ext cx="33126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dashed line on each histogram marks the mean — helps spot skew visually.</a:t>
            </a:r>
            <a:endParaRPr lang="en-US" sz="1100" dirty="0"/>
          </a:p>
        </p:txBody>
      </p:sp>
      <p:pic>
        <p:nvPicPr>
          <p:cNvPr id="15" name="Resim 14">
            <a:extLst>
              <a:ext uri="{FF2B5EF4-FFF2-40B4-BE49-F238E27FC236}">
                <a16:creationId xmlns:a16="http://schemas.microsoft.com/office/drawing/2014/main" id="{BB188F84-1D7E-DEBC-0B94-4BD56C6C1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68" y="1082494"/>
            <a:ext cx="5418304" cy="37781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Rate by Age Group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251917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55377" y="908394"/>
            <a:ext cx="34290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5591369" y="908394"/>
            <a:ext cx="64008" cy="3977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909186" y="1026868"/>
            <a:ext cx="2823333" cy="2990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age affect diabetes risk?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14625" y="1389888"/>
            <a:ext cx="3104909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rate is nearly 0% under age 20 — very rare in young patients.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14625" y="2048256"/>
            <a:ext cx="3200399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jumps sharply after age 50: from 6.4% (35–50) to 14.7% (50–65).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14626" y="2706624"/>
            <a:ext cx="31049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 group has 20.4% diabetes rate — 4× the rate of 35–50 year olds.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14624" y="3364992"/>
            <a:ext cx="3136391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real clinical pattern: type 2 diabetes risk accumulates with age.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14624" y="4023360"/>
            <a:ext cx="313639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age alone is not the cause, but it correlates with cumulative metabolic stress.</a:t>
            </a:r>
            <a:endParaRPr lang="en-US" sz="1100" dirty="0"/>
          </a:p>
        </p:txBody>
      </p:sp>
      <p:pic>
        <p:nvPicPr>
          <p:cNvPr id="15" name="Resim 14">
            <a:extLst>
              <a:ext uri="{FF2B5EF4-FFF2-40B4-BE49-F238E27FC236}">
                <a16:creationId xmlns:a16="http://schemas.microsoft.com/office/drawing/2014/main" id="{1C2048B1-B37F-8CBB-F219-E128AAF18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3" y="1140260"/>
            <a:ext cx="5499742" cy="37270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Plots by Diabetes Status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251917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61886" y="841248"/>
            <a:ext cx="3429000" cy="4217554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5365776" y="839496"/>
            <a:ext cx="107977" cy="421755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532120" y="960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diabetic vs non-diabetic patients differ?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32120" y="138988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box shows Q1 (25th percentile) to Q3 (75th percentile). The middle line is the median.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32120" y="2048256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'whiskers' extend to 1.5× IQR. Black dots beyond whiskers = outliers.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32120" y="270662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boxes overlap heavily — BMI alone cannot separate the two groups well.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32120" y="336499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HbA1c boxes barely overlap: diabetic median ~7.5 vs non-diabetic ~5.5. Strong separator.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32120" y="3959352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glucose shows the same pattern — clear separation between groups.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32120" y="4503906"/>
            <a:ext cx="3200400" cy="7721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visual alone explains why HbA1c and blood glucose are the top predictors.</a:t>
            </a:r>
            <a:endParaRPr lang="en-US" sz="1100" dirty="0"/>
          </a:p>
        </p:txBody>
      </p:sp>
      <p:pic>
        <p:nvPicPr>
          <p:cNvPr id="18" name="Resim 17">
            <a:extLst>
              <a:ext uri="{FF2B5EF4-FFF2-40B4-BE49-F238E27FC236}">
                <a16:creationId xmlns:a16="http://schemas.microsoft.com/office/drawing/2014/main" id="{87578F43-4AC0-6EF0-5DD7-4D5A7832D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96112"/>
            <a:ext cx="4474723" cy="42175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251917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94960" y="896112"/>
            <a:ext cx="3424575" cy="413080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5394960" y="896112"/>
            <a:ext cx="45719" cy="4130802"/>
          </a:xfrm>
          <a:prstGeom prst="rect">
            <a:avLst/>
          </a:prstGeom>
          <a:solidFill>
            <a:srgbClr val="2E7D6F"/>
          </a:solidFill>
          <a:ln w="12700">
            <a:solidFill>
              <a:srgbClr val="2E7D6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532120" y="960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are most related to diabetes?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32120" y="138988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E7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shows correlation coefficient (−1 to +1) between two features.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32120" y="2048256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E7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Darker red = stronger positive correlation. Blue = negative or no correlation.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32120" y="270662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E7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HbA1c and blood glucose have the highest correlation with diabetes (~0.40–0.47).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32120" y="336499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E7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BMI have moderate positive correlation with diabetes.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32119" y="3926206"/>
            <a:ext cx="3200401" cy="6915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E7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 and heart disease show weak but real correlations.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32119" y="4474846"/>
            <a:ext cx="3200401" cy="5943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E7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correlation between features (no multicollinearity) = good for logistic regression.</a:t>
            </a:r>
            <a:endParaRPr lang="en-US" sz="1100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B24292F4-1C8D-D87C-C71B-6FA5B2AD2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" y="837379"/>
            <a:ext cx="4754880" cy="42457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251917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551575" y="896112"/>
            <a:ext cx="3429000" cy="41330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5519571" y="896112"/>
            <a:ext cx="99417" cy="413308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719864" y="972766"/>
            <a:ext cx="3280166" cy="417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screen 1,000 random patients, how many diabetics do we expect?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19863" y="1435608"/>
            <a:ext cx="32927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np.random.binomial(n=1000, p=0.09, size=10000) — 10,000 simulations.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33288" y="1984248"/>
            <a:ext cx="327929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simulation randomly assigns 'diabetic' to each patient based on the 9% population rate.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33287" y="2571750"/>
            <a:ext cx="3200401" cy="7292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result: ~90 diabetic patients per 1,000 screened.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33286" y="3073940"/>
            <a:ext cx="3200400" cy="885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CI: [73, 108] — this is the realistic range across repeated screenings.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33284" y="3657600"/>
            <a:ext cx="329271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bell curve shape emerges from the Central Limit Theorem: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independent random events → normal distribution.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33283" y="4461542"/>
            <a:ext cx="3292714" cy="8145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frequency ~900 means: in most simulations, we found exactly 90 diabetic patients.</a:t>
            </a:r>
            <a:endParaRPr lang="en-US" sz="1100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2DE6F464-7117-70C8-CD2B-463333FD7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2" y="1237879"/>
            <a:ext cx="5419760" cy="337984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— Validation Set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251917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01597" y="899418"/>
            <a:ext cx="3429000" cy="4099819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5583422" y="899418"/>
            <a:ext cx="92337" cy="4099819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821048" y="1035801"/>
            <a:ext cx="3031121" cy="290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vs Decision Tree across 4 metrics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21048" y="1462262"/>
            <a:ext cx="3227724" cy="5219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both models score ~96–97% — looks impressive but misleading due to class imbalance.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21052" y="2106426"/>
            <a:ext cx="3112850" cy="5361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of all predicted diabetics, ~86–89% were actually diabetic.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21050" y="2764792"/>
            <a:ext cx="3112852" cy="5361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we caught ~74–79% of all real diabetics — the most important metric in healthcare.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21049" y="3423158"/>
            <a:ext cx="3049295" cy="5361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Score: harmonic mean of precision and recall — Decision Tree wins here.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21050" y="3959351"/>
            <a:ext cx="3031120" cy="6583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(max_depth=5) selected as best model based on validation F1.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21050" y="4503795"/>
            <a:ext cx="3112852" cy="7722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touch the test set ONCE after this decision is made.</a:t>
            </a:r>
            <a:endParaRPr lang="en-US" sz="1100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B19878EF-60DC-0E4D-1738-0B6B2ABD4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0" y="1300544"/>
            <a:ext cx="5419246" cy="32975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Test Set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251917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94960" y="841248"/>
            <a:ext cx="3429000" cy="42473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5394960" y="896112"/>
            <a:ext cx="45720" cy="41925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532120" y="960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performance broken down by prediction type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32120" y="138988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Positives: diabetic patients correctly identified — what we want to maximize.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32120" y="2048256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Negatives: diabetic patients we missed — dangerous in real healthcare context.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32120" y="270662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Positives: predicted diabetic but wasn't — causes unnecessary follow-up tests.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32120" y="336499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Negatives: correctly identified non-diabetic — the easy majority.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32120" y="40233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recall = low false negatives = fewer missed cases.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32120" y="461772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F1 and recall matter more than raw accuracy here.</a:t>
            </a:r>
            <a:endParaRPr lang="en-US" sz="1100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8E906621-89A5-06A0-2534-356FA992F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4754880" cy="398350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— Decision Tree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251917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42350" y="964535"/>
            <a:ext cx="3383536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5630109" y="964535"/>
            <a:ext cx="64008" cy="3977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876540" y="1184148"/>
            <a:ext cx="3159248" cy="185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does the model rely on most?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76540" y="1577628"/>
            <a:ext cx="2855980" cy="4066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HbA1c level is the most important feature (~52% of decisions) — matches clinical knowledge.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76540" y="2235998"/>
            <a:ext cx="2979928" cy="4066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glucose is second (~31%) — also a primary diabetes diagnostic marker.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76540" y="2816352"/>
            <a:ext cx="3090164" cy="4846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contributes ~9% — older patients are more likely to be diabetic.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30312" y="3300983"/>
            <a:ext cx="3030220" cy="6583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contributes ~5% — important but weaker than blood markers.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76539" y="3915090"/>
            <a:ext cx="2919983" cy="702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 and heart disease have small but non-zero contributions.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76538" y="4443983"/>
            <a:ext cx="2979929" cy="8321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'learned' the same relationships doctors use to diagnose diabetes.</a:t>
            </a:r>
            <a:endParaRPr lang="en-US" sz="1100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3A993A73-FB42-4310-AC81-BC22F5802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5" y="1191120"/>
            <a:ext cx="5472170" cy="35244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Linear Regression — Predicting BMI</a:t>
            </a:r>
          </a:p>
        </p:txBody>
      </p:sp>
      <p:sp>
        <p:nvSpPr>
          <p:cNvPr id="7" name="Rectangle 6"/>
          <p:cNvSpPr/>
          <p:nvPr/>
        </p:nvSpPr>
        <p:spPr>
          <a:xfrm>
            <a:off x="5754853" y="896112"/>
            <a:ext cx="3289756" cy="4093331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36569" y="890513"/>
            <a:ext cx="59440" cy="4093331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33170" y="1006596"/>
            <a:ext cx="3111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1B2A4A"/>
                </a:solidFill>
              </a:rPr>
              <a:t>Task: Predict BMI from health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3732" y="1344166"/>
            <a:ext cx="28587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0D7C7C"/>
                </a:solidFill>
              </a:rPr>
              <a:t>→  Model: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3731" y="1590387"/>
            <a:ext cx="348853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3A4A5A"/>
                </a:solidFill>
              </a:rPr>
              <a:t>Linear Regression (</a:t>
            </a:r>
            <a:r>
              <a:rPr sz="1000" b="0" i="0" dirty="0" err="1">
                <a:solidFill>
                  <a:srgbClr val="3A4A5A"/>
                </a:solidFill>
              </a:rPr>
              <a:t>sklearn</a:t>
            </a:r>
            <a:r>
              <a:rPr sz="1000" b="0" i="0" dirty="0">
                <a:solidFill>
                  <a:srgbClr val="3A4A5A"/>
                </a:solidFill>
              </a:rPr>
              <a:t>)
7 features: age, HbA1c, blood glucose,
hypertension, heart disease, gender, smoking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3731" y="2127520"/>
            <a:ext cx="28587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0D7C7C"/>
                </a:solidFill>
              </a:rPr>
              <a:t>→  Test MSE: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3730" y="2373741"/>
            <a:ext cx="28587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3A4A5A"/>
                </a:solidFill>
              </a:rPr>
              <a:t>38.5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3730" y="2571750"/>
            <a:ext cx="28587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0D7C7C"/>
                </a:solidFill>
              </a:rPr>
              <a:t>→  Test RMSE: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3730" y="2775661"/>
            <a:ext cx="28587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3A4A5A"/>
                </a:solidFill>
              </a:rPr>
              <a:t>6.2  (average BMI prediction error)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3730" y="3015980"/>
            <a:ext cx="2858790" cy="252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0D7C7C"/>
                </a:solidFill>
              </a:rPr>
              <a:t>→  Test R²: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3170" y="3236959"/>
            <a:ext cx="2799350" cy="255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3A4A5A"/>
                </a:solidFill>
              </a:rPr>
              <a:t>0.124  → model explains 12.4% of BMI variance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3730" y="3508422"/>
            <a:ext cx="2858790" cy="252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0D7C7C"/>
                </a:solidFill>
              </a:rPr>
              <a:t>→  Why R² is low: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3728" y="3760545"/>
            <a:ext cx="2995951" cy="57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3A4A5A"/>
                </a:solidFill>
              </a:rPr>
              <a:t>Age is the strongest predictor (β=2.08). BMI depends on lifestyle factors not captured here — genetics, diet, exercise — which limits R².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3728" y="4311886"/>
            <a:ext cx="28587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0D7C7C"/>
                </a:solidFill>
              </a:rPr>
              <a:t>→  Limitation: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3170" y="4499208"/>
            <a:ext cx="3051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3A4A5A"/>
                </a:solidFill>
              </a:rPr>
              <a:t>Not suitable for clinical use. Shows linear relationships exist but are weak predictors in isolation.</a:t>
            </a:r>
          </a:p>
        </p:txBody>
      </p:sp>
      <p:pic>
        <p:nvPicPr>
          <p:cNvPr id="23" name="Resim 22">
            <a:extLst>
              <a:ext uri="{FF2B5EF4-FFF2-40B4-BE49-F238E27FC236}">
                <a16:creationId xmlns:a16="http://schemas.microsoft.com/office/drawing/2014/main" id="{392DB36E-3A9F-D191-2930-84D81EFCA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0" y="1133061"/>
            <a:ext cx="5603475" cy="334341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7C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4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vs Decision Tree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Metrics? — Precision, Recall, F1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2029968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64008" cy="2103120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180136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predictions / total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predicting 'no diabetes' for everyone = 91.5% accuracy with zero clinical value.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896112"/>
            <a:ext cx="2029968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2468880" y="896112"/>
            <a:ext cx="64008" cy="2103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2606040" y="1005840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1353312"/>
            <a:ext cx="180136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 / (TP + FP)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everyone we flagged as diabetic, how many actually are? Low precision = too many false alarms.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896112"/>
            <a:ext cx="2029968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4617720" y="896112"/>
            <a:ext cx="64008" cy="2103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754880" y="1005840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353312"/>
            <a:ext cx="180136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 / (TP + FN)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actual diabetics, how many did we catch? Low recall = missed diagnoses. Most critical here.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896112"/>
            <a:ext cx="2029968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6766560" y="896112"/>
            <a:ext cx="64008" cy="21031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903720" y="1005840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03720" y="1353312"/>
            <a:ext cx="180136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(Precision × Recall) / (P + R)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both. Our primary selection metric. Can't be gamed by predicting only one class.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602353"/>
              </p:ext>
            </p:extLst>
          </p:nvPr>
        </p:nvGraphicFramePr>
        <p:xfrm>
          <a:off x="320040" y="3154680"/>
          <a:ext cx="8503920" cy="16916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(d=5)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7C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Model →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0.9726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1.0000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0.6776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0.8079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7C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last row with actual test set numbers after running Section 7 of the notebook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138160" cy="5581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4251960" cy="1719072"/>
          </a:xfrm>
          <a:prstGeom prst="rect">
            <a:avLst/>
          </a:prstGeom>
          <a:solidFill>
            <a:srgbClr val="253A5A"/>
          </a:solidFill>
          <a:ln w="12700">
            <a:solidFill>
              <a:srgbClr val="3A52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242316" y="1005840"/>
            <a:ext cx="64008" cy="1719072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38328" y="1145334"/>
            <a:ext cx="4187952" cy="2994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8328" y="1481328"/>
            <a:ext cx="418795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HbA1c level and blood glucose are by far the strongest predictors — both in the correlation heatmap and the decision tree feature importance. This matches clinical diagnostic guidelines.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13927" y="1014984"/>
            <a:ext cx="4155753" cy="1719072"/>
          </a:xfrm>
          <a:prstGeom prst="rect">
            <a:avLst/>
          </a:prstGeom>
          <a:solidFill>
            <a:srgbClr val="253A5A"/>
          </a:solidFill>
          <a:ln w="12700">
            <a:solidFill>
              <a:srgbClr val="3A52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4704588" y="1014984"/>
            <a:ext cx="64008" cy="1719072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805367" y="1145334"/>
            <a:ext cx="4155753" cy="2994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5367" y="1481328"/>
            <a:ext cx="4155753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rises sharply with age: 0.5% under 20, rising to 20.4% at 65+. Age alone doesn't cause diabetes, but it correlates with cumulative metabolic risk.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880360"/>
            <a:ext cx="4251960" cy="1719072"/>
          </a:xfrm>
          <a:prstGeom prst="rect">
            <a:avLst/>
          </a:prstGeom>
          <a:solidFill>
            <a:srgbClr val="253A5A"/>
          </a:solidFill>
          <a:ln w="12700">
            <a:solidFill>
              <a:srgbClr val="3A52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254378" y="2880360"/>
            <a:ext cx="64008" cy="1719072"/>
          </a:xfrm>
          <a:prstGeom prst="rect">
            <a:avLst/>
          </a:prstGeom>
          <a:solidFill>
            <a:srgbClr val="2E7D6F"/>
          </a:solidFill>
          <a:ln w="12700">
            <a:solidFill>
              <a:srgbClr val="2E7D6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338328" y="2944366"/>
            <a:ext cx="4187952" cy="374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Key Finding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" y="3319271"/>
            <a:ext cx="4187952" cy="12070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hypertension have 3× higher diabetes probability (31% vs 9%). Comorbidities cluster together — one risk factor often signals others.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10814" y="2880360"/>
            <a:ext cx="4178808" cy="1719072"/>
          </a:xfrm>
          <a:prstGeom prst="rect">
            <a:avLst/>
          </a:prstGeom>
          <a:solidFill>
            <a:srgbClr val="253A5A"/>
          </a:solidFill>
          <a:ln w="12700">
            <a:solidFill>
              <a:srgbClr val="3A52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4704588" y="2880360"/>
            <a:ext cx="64008" cy="1719072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4869375" y="2962655"/>
            <a:ext cx="4091745" cy="210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69375" y="3255263"/>
            <a:ext cx="4000305" cy="11708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(max_depth=5) outperforms Logistic Regression on F1 on the validation set. Final test results:</a:t>
            </a:r>
            <a:b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tr-TR" sz="1100" dirty="0" err="1">
                <a:solidFill>
                  <a:schemeClr val="bg1"/>
                </a:solidFill>
              </a:rPr>
              <a:t>Accuracy</a:t>
            </a:r>
            <a:r>
              <a:rPr lang="tr-TR" sz="1100" dirty="0">
                <a:solidFill>
                  <a:schemeClr val="bg1"/>
                </a:solidFill>
              </a:rPr>
              <a:t>: 0.9726</a:t>
            </a:r>
          </a:p>
          <a:p>
            <a:r>
              <a:rPr lang="tr-TR" sz="1100" dirty="0">
                <a:solidFill>
                  <a:schemeClr val="bg1"/>
                </a:solidFill>
              </a:rPr>
              <a:t>Precision: 1.0000 ( Precision is </a:t>
            </a:r>
            <a:r>
              <a:rPr lang="tr-TR" sz="1100" dirty="0" err="1">
                <a:solidFill>
                  <a:schemeClr val="bg1"/>
                </a:solidFill>
              </a:rPr>
              <a:t>perfect</a:t>
            </a:r>
            <a:r>
              <a:rPr lang="tr-TR" sz="1100" dirty="0">
                <a:solidFill>
                  <a:schemeClr val="bg1"/>
                </a:solidFill>
              </a:rPr>
              <a:t>, </a:t>
            </a:r>
            <a:r>
              <a:rPr lang="tr-TR" sz="1100" dirty="0" err="1">
                <a:solidFill>
                  <a:schemeClr val="bg1"/>
                </a:solidFill>
              </a:rPr>
              <a:t>only</a:t>
            </a:r>
            <a:r>
              <a:rPr lang="tr-TR" sz="1100" dirty="0">
                <a:solidFill>
                  <a:schemeClr val="bg1"/>
                </a:solidFill>
              </a:rPr>
              <a:t> </a:t>
            </a:r>
            <a:r>
              <a:rPr lang="tr-TR" sz="1100" dirty="0" err="1">
                <a:solidFill>
                  <a:schemeClr val="bg1"/>
                </a:solidFill>
              </a:rPr>
              <a:t>predicts</a:t>
            </a:r>
            <a:r>
              <a:rPr lang="tr-TR" sz="1100" dirty="0">
                <a:solidFill>
                  <a:schemeClr val="bg1"/>
                </a:solidFill>
              </a:rPr>
              <a:t> </a:t>
            </a:r>
            <a:r>
              <a:rPr lang="tr-TR" sz="1100" dirty="0" err="1">
                <a:solidFill>
                  <a:schemeClr val="bg1"/>
                </a:solidFill>
              </a:rPr>
              <a:t>diabetic</a:t>
            </a:r>
            <a:r>
              <a:rPr lang="tr-TR" sz="1100" dirty="0">
                <a:solidFill>
                  <a:schemeClr val="bg1"/>
                </a:solidFill>
              </a:rPr>
              <a:t> </a:t>
            </a:r>
            <a:r>
              <a:rPr lang="tr-TR" sz="1100" dirty="0" err="1">
                <a:solidFill>
                  <a:schemeClr val="bg1"/>
                </a:solidFill>
              </a:rPr>
              <a:t>when</a:t>
            </a:r>
            <a:r>
              <a:rPr lang="tr-TR" sz="1100" dirty="0">
                <a:solidFill>
                  <a:schemeClr val="bg1"/>
                </a:solidFill>
              </a:rPr>
              <a:t> </a:t>
            </a:r>
            <a:r>
              <a:rPr lang="tr-TR" sz="1100" dirty="0" err="1">
                <a:solidFill>
                  <a:schemeClr val="bg1"/>
                </a:solidFill>
              </a:rPr>
              <a:t>very</a:t>
            </a:r>
            <a:r>
              <a:rPr lang="tr-TR" sz="1100" dirty="0">
                <a:solidFill>
                  <a:schemeClr val="bg1"/>
                </a:solidFill>
              </a:rPr>
              <a:t> </a:t>
            </a:r>
            <a:r>
              <a:rPr lang="tr-TR" sz="1100" dirty="0" err="1">
                <a:solidFill>
                  <a:schemeClr val="bg1"/>
                </a:solidFill>
              </a:rPr>
              <a:t>confident</a:t>
            </a:r>
            <a:r>
              <a:rPr lang="tr-TR" sz="1100" dirty="0">
                <a:solidFill>
                  <a:schemeClr val="bg1"/>
                </a:solidFill>
              </a:rPr>
              <a:t>. </a:t>
            </a:r>
            <a:r>
              <a:rPr lang="tr-TR" sz="1100" dirty="0" err="1">
                <a:solidFill>
                  <a:schemeClr val="bg1"/>
                </a:solidFill>
              </a:rPr>
              <a:t>Recall</a:t>
            </a:r>
            <a:r>
              <a:rPr lang="tr-TR" sz="1100" dirty="0">
                <a:solidFill>
                  <a:schemeClr val="bg1"/>
                </a:solidFill>
              </a:rPr>
              <a:t> of 0.70 </a:t>
            </a:r>
            <a:r>
              <a:rPr lang="tr-TR" sz="1100" dirty="0" err="1">
                <a:solidFill>
                  <a:schemeClr val="bg1"/>
                </a:solidFill>
              </a:rPr>
              <a:t>means</a:t>
            </a:r>
            <a:r>
              <a:rPr lang="tr-TR" sz="1100" dirty="0">
                <a:solidFill>
                  <a:schemeClr val="bg1"/>
                </a:solidFill>
              </a:rPr>
              <a:t> 30% of </a:t>
            </a:r>
            <a:r>
              <a:rPr lang="tr-TR" sz="1100" dirty="0" err="1">
                <a:solidFill>
                  <a:schemeClr val="bg1"/>
                </a:solidFill>
              </a:rPr>
              <a:t>real</a:t>
            </a:r>
            <a:r>
              <a:rPr lang="tr-TR" sz="1100" dirty="0">
                <a:solidFill>
                  <a:schemeClr val="bg1"/>
                </a:solidFill>
              </a:rPr>
              <a:t> </a:t>
            </a:r>
            <a:r>
              <a:rPr lang="tr-TR" sz="1100" dirty="0" err="1">
                <a:solidFill>
                  <a:schemeClr val="bg1"/>
                </a:solidFill>
              </a:rPr>
              <a:t>cases</a:t>
            </a:r>
            <a:r>
              <a:rPr lang="tr-TR" sz="1100" dirty="0">
                <a:solidFill>
                  <a:schemeClr val="bg1"/>
                </a:solidFill>
              </a:rPr>
              <a:t> </a:t>
            </a:r>
            <a:r>
              <a:rPr lang="tr-TR" sz="1100" dirty="0" err="1">
                <a:solidFill>
                  <a:schemeClr val="bg1"/>
                </a:solidFill>
              </a:rPr>
              <a:t>are</a:t>
            </a:r>
            <a:r>
              <a:rPr lang="tr-TR" sz="1100" dirty="0">
                <a:solidFill>
                  <a:schemeClr val="bg1"/>
                </a:solidFill>
              </a:rPr>
              <a:t> </a:t>
            </a:r>
            <a:r>
              <a:rPr lang="tr-TR" sz="1100" dirty="0" err="1">
                <a:solidFill>
                  <a:schemeClr val="bg1"/>
                </a:solidFill>
              </a:rPr>
              <a:t>missed</a:t>
            </a:r>
            <a:r>
              <a:rPr lang="tr-TR" sz="1100" dirty="0">
                <a:solidFill>
                  <a:schemeClr val="bg1"/>
                </a:solidFill>
              </a:rPr>
              <a:t> )</a:t>
            </a:r>
          </a:p>
          <a:p>
            <a:r>
              <a:rPr lang="tr-TR" sz="1100" dirty="0" err="1">
                <a:solidFill>
                  <a:schemeClr val="bg1"/>
                </a:solidFill>
              </a:rPr>
              <a:t>Recall</a:t>
            </a:r>
            <a:r>
              <a:rPr lang="tr-TR" sz="1100" dirty="0">
                <a:solidFill>
                  <a:schemeClr val="bg1"/>
                </a:solidFill>
              </a:rPr>
              <a:t>: 0.6776</a:t>
            </a:r>
          </a:p>
          <a:p>
            <a:r>
              <a:rPr lang="tr-TR" sz="1100" dirty="0">
                <a:solidFill>
                  <a:schemeClr val="bg1"/>
                </a:solidFill>
              </a:rPr>
              <a:t>F1 </a:t>
            </a:r>
            <a:r>
              <a:rPr lang="tr-TR" sz="1100" dirty="0" err="1">
                <a:solidFill>
                  <a:schemeClr val="bg1"/>
                </a:solidFill>
              </a:rPr>
              <a:t>Score</a:t>
            </a:r>
            <a:r>
              <a:rPr lang="tr-TR" sz="1100" dirty="0">
                <a:solidFill>
                  <a:schemeClr val="bg1"/>
                </a:solidFill>
              </a:rPr>
              <a:t>: 0.8079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2134</Words>
  <Application>Microsoft Macintosh PowerPoint</Application>
  <PresentationFormat>Ekran Gösterisi (16:9)</PresentationFormat>
  <Paragraphs>266</Paragraphs>
  <Slides>21</Slides>
  <Notes>20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Gürsel YEŞİLOT</cp:lastModifiedBy>
  <cp:revision>4</cp:revision>
  <dcterms:created xsi:type="dcterms:W3CDTF">2026-05-20T09:49:07Z</dcterms:created>
  <dcterms:modified xsi:type="dcterms:W3CDTF">2026-05-23T11:30:40Z</dcterms:modified>
</cp:coreProperties>
</file>